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548640"/>
            <a:ext cx="1280160" cy="4114800"/>
          </a:xfrm>
          <a:prstGeom prst="rect">
            <a:avLst/>
          </a:prstGeom>
          <a:solidFill>
            <a:srgbClr val="1E3A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548640"/>
            <a:ext cx="1280160" cy="4114800"/>
          </a:xfrm>
          <a:prstGeom prst="rect">
            <a:avLst/>
          </a:prstGeom>
          <a:solidFill>
            <a:srgbClr val="1E3A8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548640"/>
            <a:ext cx="1280160" cy="4114800"/>
          </a:xfrm>
          <a:prstGeom prst="rect">
            <a:avLst/>
          </a:prstGeom>
          <a:solidFill>
            <a:srgbClr val="1E3A8A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548640"/>
            <a:ext cx="1280160" cy="4114800"/>
          </a:xfrm>
          <a:prstGeom prst="rect">
            <a:avLst/>
          </a:prstGeom>
          <a:solidFill>
            <a:srgbClr val="1E3A8A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548640"/>
            <a:ext cx="1280160" cy="4114800"/>
          </a:xfrm>
          <a:prstGeom prst="rect">
            <a:avLst/>
          </a:prstGeom>
          <a:solidFill>
            <a:srgbClr val="1E3A8A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548640"/>
            <a:ext cx="1280160" cy="4114800"/>
          </a:xfrm>
          <a:prstGeom prst="rect">
            <a:avLst/>
          </a:prstGeom>
          <a:solidFill>
            <a:srgbClr val="1E3A8A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731520" y="457200"/>
            <a:ext cx="3657600" cy="365760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914400"/>
            <a:ext cx="78638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0515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Микропроцессорные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Управления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· Интерфейсы · Контроллеры · Программирование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029200" cy="731520"/>
          </a:xfrm>
          <a:prstGeom prst="rect">
            <a:avLst>
              <a:gd name="adj" fmla="val 6250"/>
            </a:avLst>
          </a:prstGeom>
          <a:solidFill>
            <a:srgbClr val="2563EB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В.Б. Садов, В.О. Чернецкий  |  ЮУрГУ, 2013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75488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управляющих устройств на базе МП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88720"/>
            <a:ext cx="475488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2344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ЭВМ — архитектуры и наборы команд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475488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031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1488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Интерфейсы — параллельные и последовательные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1031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103120"/>
            <a:ext cx="475488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1031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21488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 шины: CAN, MODBUS, Manchester-II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475488" cy="71323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175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0632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управляющей ЭВМ — критерии и примеры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0175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017520"/>
            <a:ext cx="475488" cy="71323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175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0632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 контроллеры и микроконтроллеры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31920"/>
            <a:ext cx="475488" cy="71323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9319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9776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Программирование контроллеров — стандарт МЭК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93192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3931920"/>
            <a:ext cx="475488" cy="71323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93192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39776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Программирование МК реального времени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Управляющих Устройств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Одноконтурная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система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1737360"/>
            <a:ext cx="731520" cy="73152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" y="26060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МК управляет одним объектом через АЦП, ЦАП, коммутатор и нормирующие преобразователи (УСО).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Многоконтурная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система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1A2B5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5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10128" y="26060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МК управляют отдельными объектами независимо. При необходимости — передача данных в центральное вычислительное устройство.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Иерархическая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МПСУ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1737360"/>
            <a:ext cx="731520" cy="731520"/>
          </a:xfrm>
          <a:prstGeom prst="ellipse">
            <a:avLst/>
          </a:prstGeom>
          <a:solidFill>
            <a:srgbClr val="0369A1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69A1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36208" y="26060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ЭВМ верхних уровней управляют МК нижних уровней. Принципы: иерархичность, независимость по уровням, информационная замкнутость.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2B5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МК — микроконтроллер  |  ОУ — объект управления  |  УСО — устройство связи с объектом  |  АЦП / ЦАП — преобразователи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ЭВМ и Архитектуры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Способы построения ВМ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81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непосредственными связями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Фон-Неймановская ВМ. Прямые связи процессор–память–ввод/вывод. Производительность зависит от «узких мест».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7180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шины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устройства подключены к магистральной шине. Простота реконфигурации. Основной недостаток: только одно устройство передаёт данные в момент.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1097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Архитектуры набора команд (АСК)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508760"/>
            <a:ext cx="64008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5087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CISC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21808" y="16459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Полный набор команд. Сложные инструкции, соответствующие операторам ЯВУ. Много форматов команд.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65176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651760"/>
            <a:ext cx="64008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6517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27889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Сокращённый набор. Простые быстрые команды. Только регистровые операции. Высокое быстродействие.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79476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794760"/>
            <a:ext cx="64008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7947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VLIW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39319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Сверхдлинные командные слова. Несколько RISC-команд объединяются и выполняются параллельно.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5F"/>
                </a:solidFill>
              </a:rPr>
              <a:t>Принстонская архитектура (общая память команд и данных) vs Гарвардская (раздельная память)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Интерфейсы Микропроцессорных Устройств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Параллельные интерфейсы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733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Отдельная линия на каждый бит — биты передаются одновременно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6712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Используют уровни ТТЛ-логики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70662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66090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Длина кабеля не более 5 метров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1546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Низкая помехозащищённость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9417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4845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Применяются редко: принтеры, близко расположенные ПК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4297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97280"/>
            <a:ext cx="4297680" cy="4572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097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Последовательные интерфейсы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719072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16733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Одна сигнальная линия — биты поочерёдно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212848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216712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Не-ТТЛ сигналы, большая дальность связи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706624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26609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Гальваническая развязка (RS-232, RS-422, RS-485)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31546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Режимы: асинхронный, синхронный, изохронный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94176"/>
            <a:ext cx="164592" cy="16459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364845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RS-232: до 15 м / RS-485: до 1200 м, 10 Мбит/с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Последовательная передача и I²C / SPI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</a:rPr>
              <a:t>Формат асинхронной посылки (UART)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229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СТАРТ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417320"/>
            <a:ext cx="6400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Бит 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417320"/>
            <a:ext cx="6400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Бит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1417320"/>
            <a:ext cx="6400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Бит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1417320"/>
            <a:ext cx="54864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  ...  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417320"/>
            <a:ext cx="6400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Бит 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1417320"/>
            <a:ext cx="8686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417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ПАРИТЕТ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1417320"/>
            <a:ext cx="8229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417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СТОП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40233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103120"/>
            <a:ext cx="4023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Интерфейс I²C (Philips)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2596896"/>
            <a:ext cx="10972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25786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 линии: SDA (данные) + SCL (синхронизация)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2953512"/>
            <a:ext cx="10972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29352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Ведущий (Master) и ведомый (Slave)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3310128"/>
            <a:ext cx="10972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2918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Стандартный режим: 100 кГц; Скоростной: 400 кГц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" y="3666744"/>
            <a:ext cx="10972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64845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7-битная адресация (до 128 устройств)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4023360"/>
            <a:ext cx="10972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0050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Арбитраж: низкий уровень побеждает (доминантный бит)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" y="4379976"/>
            <a:ext cx="10972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361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Подтверждение ACK в 9-м такте каждого байта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103120"/>
            <a:ext cx="42062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103120"/>
            <a:ext cx="4206240" cy="41148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Интерфейс SPI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73168" y="2596896"/>
            <a:ext cx="109728" cy="20116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257860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 линии: SCLK, MOSI (→), MISO (←)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73168" y="2953512"/>
            <a:ext cx="109728" cy="20116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3" name="Text 41"/>
          <p:cNvSpPr/>
          <p:nvPr/>
        </p:nvSpPr>
        <p:spPr>
          <a:xfrm>
            <a:off x="4956048" y="293522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Полнодуплексная синхронная передача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73168" y="3310128"/>
            <a:ext cx="109728" cy="20116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5" name="Text 43"/>
          <p:cNvSpPr/>
          <p:nvPr/>
        </p:nvSpPr>
        <p:spPr>
          <a:xfrm>
            <a:off x="4956048" y="32918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Ведущий управляет тактовым сигналом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73168" y="3666744"/>
            <a:ext cx="109728" cy="20116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7" name="Text 45"/>
          <p:cNvSpPr/>
          <p:nvPr/>
        </p:nvSpPr>
        <p:spPr>
          <a:xfrm>
            <a:off x="4956048" y="364845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Нет стандартной адресации — CS-выбор устройства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73168" y="4023360"/>
            <a:ext cx="109728" cy="20116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40050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Высокая скорость (до десятков МГц)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73168" y="4379976"/>
            <a:ext cx="109728" cy="20116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51" name="Text 49"/>
          <p:cNvSpPr/>
          <p:nvPr/>
        </p:nvSpPr>
        <p:spPr>
          <a:xfrm>
            <a:off x="4956048" y="43616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Широко применяется для Flash, ЦАП, дисплеев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 Шины: CAN и MODBUS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 — Controller Area Network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Разработчик: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27632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Robert Bosch, 1980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1396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Скорость: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27632" y="21396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до 1 Мбит/с (CAN 2.0B)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587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Среда: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27632" y="2587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Витая пара, оптоволокно, радио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035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Адресация: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27632" y="3035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Сообщения не адресные — по идентификатору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4838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Арбитраж: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27632" y="34838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Поразрядный, неразрушающий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9319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Форматы: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27632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Стандартный (11 бит) и расширенный (29 бит)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43799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Применение: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27632" y="43799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Автомобили, автоматизация, медицина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097280"/>
            <a:ext cx="42976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097280"/>
            <a:ext cx="429768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097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MODBUS — Протокол высокого уровня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81728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Физический уровень: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1691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RS-232 / RS-485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81728" y="21396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Топология: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65392" y="21396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Главный – подчинённый (Master-Slave)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2587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Режим ASCII: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65392" y="25877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 ASCII-символа на байт, пауза до 1 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81728" y="3035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Режим RTU: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65392" y="3035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8-бит символы, CRC-16 контрольная сумма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28" y="34838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Цикл: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65392" y="3483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Запрос → Ответ (адрес, функция, данные, CRC)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1728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Функция 03: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65392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Чтение регистров (Read Holding Registers)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81728" y="43799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Адресация: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65392" y="43799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1–247 (0 — широковещательная)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Управляющей ЭВМ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Универсальная ЭВМ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(Промышленный ПК)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 Преимущества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Стандартные языки программирования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597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Широкий выбор ПО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Высокая вычислительная мощность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29184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 Недостатки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584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Нет встроенных средств ввода/вывода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95928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684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Нужны модули расширения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379976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52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Высокая стоимость решения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143000"/>
            <a:ext cx="2743200" cy="5486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1143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Промышленный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Контроллер (ПЛК)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178308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 Преимущества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10312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Готовые блоки интерфейсов и ввода/вывода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487168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4597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Простые конструктивные решения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871216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Стандарт МЭК 61131-3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329184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 Недостатки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361188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584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Специализированное ПО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3995928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39684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Невысокое быстродействие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37560" y="4379976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4352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Оплата лицензий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143000"/>
            <a:ext cx="2743200" cy="5486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1" name="Text 39"/>
          <p:cNvSpPr/>
          <p:nvPr/>
        </p:nvSpPr>
        <p:spPr>
          <a:xfrm>
            <a:off x="6126480" y="1143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Микроконтроллер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(Встроенная система)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36208" y="178308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 Преимущества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210312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Низкая стоимость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2487168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24597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Высокое быстродействие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2871216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Встроенные интерфейсы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36208" y="329184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 Недостатки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361188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3584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Специализированное ПО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3995928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39684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Разработка электроники УСО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4379976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4352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Ограниченные ресурсы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Микроконтроллеры — Обзор и Сравнение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 бит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ATMega8535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(Atmel AVR)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32 бит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627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NEC V850 / ARM7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(32-разрядный)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743200" cy="10058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200 MIPS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1627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ARM9 (AT91RM9200)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@180 МГц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2128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</a:rPr>
              <a:t>Сравнение семейств микроконтроллеров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78608"/>
          <a:ext cx="859536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201168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Параметр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AVR ATMega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NEC V850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Atmel ARM7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Atmel ARM9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Разрядность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 бит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32 бит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32 бит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32 бит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Тактовая частота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до 16 МГц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до 20 МГц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до 55 МГц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до 240 МГц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Flash-память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128 кБ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256 кБ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512 кБ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до 32 МБ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Производит-сть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16 MIPS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27 MIPS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 MIPS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 MIPS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Интерфейсы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SPI, I²C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UART, SPI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SPI, TWI, CAN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USB, Ethernet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Программирование ПЛК — Стандарт МЭК 61131-3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94360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594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SFC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527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Диаграммы последовательных функций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55064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Высокоуровневый графический инструмент. Шаги, переходы, условия. Основан на сетях Петри. Параллельные процессы.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594360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143000"/>
            <a:ext cx="594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12527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инструкций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655064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Низкоуровневый язык, аналог ассемблера. Аккумулятор, переходы по меткам. Максимальная эффективность.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594360" cy="1645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143000"/>
            <a:ext cx="594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12527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текст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655064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Язык высокого уровня, аналог Pascal/С. Переменные, циклы, условия. Наиболее мощный текстовый язык.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251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594360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017520"/>
            <a:ext cx="594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127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Релейные диаграммы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529584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Графический язык. Контакты и катушки реле. Последовательное (И), параллельное (ИЛИ), инверсия (НЕ).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4251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017520"/>
            <a:ext cx="594360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017520"/>
            <a:ext cx="594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FBD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3127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блоковые диаграммы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3529584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Графический язык. Блоки как «чёрные ящики», соединённые проводниками любого типа данных.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Программирование МК Реального Времени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0972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Прикладные программы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Обрабатывают записи и сообщения. Аналог программ обработки данных. Уникальны для каждой системы.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542032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Вычисление температуры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443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Управление нагревом ТЭН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40156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Отображение на индикатор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83133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03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Чтение/запись ЭППЗУ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97280"/>
            <a:ext cx="2743200" cy="47548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097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CTL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58768" y="10972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Управляющие программы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664208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Координируют прикладные программы, обрабатывают прерывания, управляют вводом/выводом.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542032"/>
            <a:ext cx="118872" cy="11887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514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Главный планировщик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971800"/>
            <a:ext cx="118872" cy="11887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9443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Обработка прерываний таймера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401568"/>
            <a:ext cx="118872" cy="11887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Управление очерёдностью задач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831336"/>
            <a:ext cx="118872" cy="118872"/>
          </a:xfrm>
          <a:prstGeom prst="ellipse">
            <a:avLst/>
          </a:prstGeom>
          <a:solidFill>
            <a:srgbClr val="1A2B5F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803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Обработка аварийных ситуаций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97280"/>
            <a:ext cx="2743200" cy="4754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097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84848" y="10972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Обеспечивающие программы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6208" y="1664208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Начальный пуск системы, поддержание нормального функционирования.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542032"/>
            <a:ext cx="118872" cy="11887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514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Средства отладки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2971800"/>
            <a:ext cx="118872" cy="11887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9443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Генерация данных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3401568"/>
            <a:ext cx="118872" cy="11887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374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Моделирование устройств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3831336"/>
            <a:ext cx="118872" cy="11887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803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Диагностика системы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1A2B5F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5F"/>
                </a:solidFill>
              </a:rPr>
              <a:t>Пример: Программа управления нагревом печи на ATMega16 — кусочно-линейный график температуры + прерывания таймеров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Особенности Использования Шин и Арбитраж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F"/>
                </a:solidFill>
              </a:rPr>
              <a:t>Типы приоритетов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3931920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Статический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47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Фиксированный приоритет. Устройства с высоким приоритетом могут заблокировать остальные.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79192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679192"/>
            <a:ext cx="3931920" cy="347472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Динамический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0815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Приоритет меняется по алгоритму. Обеспечивает равнодоступность для всех устройств.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4005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Алгоритмы динамической смены приоритетов: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361688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4334256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Простая циклическая смена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489704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4462272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Циклическая с учётом последнего запроса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617720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4590288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По случайному закону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745736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718304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Равные приоритеты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873752"/>
            <a:ext cx="914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484632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Наиболее давнего использования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F"/>
                </a:solidFill>
              </a:rPr>
              <a:t>Схемы арбитража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1444752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444752"/>
            <a:ext cx="54864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14904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Централизованный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параллельный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1920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Центральный арбитр связан с каждым ведущим индивидуальными двухпроводными трактами.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633472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633472"/>
            <a:ext cx="54864" cy="105156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26791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Централизованный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B5F"/>
                </a:solidFill>
              </a:rPr>
              <a:t>последовательный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81728" y="3108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Цепочечный (гирляндный) арбитраж — сигнал поочерёдно проходит через цепочку ведущих.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822192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822192"/>
            <a:ext cx="54864" cy="10515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6" name="Text 34"/>
          <p:cNvSpPr/>
          <p:nvPr/>
        </p:nvSpPr>
        <p:spPr>
          <a:xfrm>
            <a:off x="4681728" y="38679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Децентрализованный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(распределённый)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81728" y="4297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Нет единого арбитра. Каждый ведущий содержит блок управления доступом. Менее чувствителен к отказам.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Выводы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4114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4206240" cy="1097280"/>
          </a:xfrm>
          <a:prstGeom prst="rect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Структуры МПСУ охватывают одноконтурные, многоконтурные и иерархические системы с несколькими уровнями управления.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206240" cy="1097280"/>
          </a:xfrm>
          <a:prstGeom prst="rect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005840"/>
            <a:ext cx="411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11556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Архитектуры ЭВМ (CISC / RISC / VLIW) и топологии шин определяют производительность и масштабируемость системы.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206240" cy="1097280"/>
          </a:xfrm>
          <a:prstGeom prst="rect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331720"/>
            <a:ext cx="411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33172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44144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Интерфейсы от параллельных ТТЛ до CAN, MODBUS и Manchester-II обеспечивают связь от 5 м до 1200 м.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331720"/>
            <a:ext cx="4206240" cy="1097280"/>
          </a:xfrm>
          <a:prstGeom prst="rect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2331720"/>
            <a:ext cx="411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33172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44144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Выбор МК или ПЛК зависит от требований: стоимость, быстродействие, наличие готовых блоков ввода/вывода.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4206240" cy="1097280"/>
          </a:xfrm>
          <a:prstGeom prst="rect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657600"/>
            <a:ext cx="411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65760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76732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Стандарт МЭК 61131-3 задаёт 5 языков ПЛК (SFC, IL, ST, LD, FBD) для переносимого промышленного ПО.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4206240" cy="1097280"/>
          </a:xfrm>
          <a:prstGeom prst="rect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3657600"/>
            <a:ext cx="411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65760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76732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Программирование МК реального времени разделяет задачи на прикладные, управляющие и обеспечивающие программы.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Микропроцессорные Системы Управления</dc:title>
  <dc:subject>PptxGenJS Presentation</dc:subject>
  <dc:creator>PptxGenJS</dc:creator>
  <cp:lastModifiedBy>PptxGenJS</cp:lastModifiedBy>
  <cp:revision>1</cp:revision>
  <dcterms:created xsi:type="dcterms:W3CDTF">2026-03-28T05:19:37Z</dcterms:created>
  <dcterms:modified xsi:type="dcterms:W3CDTF">2026-03-28T05:19:37Z</dcterms:modified>
</cp:coreProperties>
</file>